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79300" cy="6858000"/>
  <p:notesSz cx="121793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474" y="1859012"/>
            <a:ext cx="9880251" cy="12352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TECHNICAL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TRAINING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MODULE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FOR</a:t>
            </a:r>
          </a:p>
          <a:p>
            <a:pPr marL="307032" marR="0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GALLEY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>
                <a:solidFill>
                  <a:srgbClr val="000000"/>
                </a:solidFill>
                <a:latin typeface="Arial Black"/>
                <a:cs typeface="Arial Black"/>
              </a:rPr>
              <a:t>/</a:t>
            </a:r>
            <a:r>
              <a:rPr dirty="0" sz="3600" spc="30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STEWARD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100">
                <a:solidFill>
                  <a:srgbClr val="000000"/>
                </a:solidFill>
                <a:latin typeface="Arial Black"/>
                <a:cs typeface="Arial Black"/>
              </a:rPr>
              <a:t>DEPARTMENT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33499" y="576708"/>
            <a:ext cx="5597276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AGENDA</a:t>
            </a:r>
            <a:r>
              <a:rPr dirty="0" sz="3600" spc="-134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39049" y="2364804"/>
            <a:ext cx="3263726" cy="5697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RightShip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Inspection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(RSI)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</a:p>
          <a:p>
            <a:pPr marL="0" marR="0">
              <a:lnSpc>
                <a:spcPts val="2010"/>
              </a:lnSpc>
              <a:spcBef>
                <a:spcPts val="164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RISQ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3.2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14549" y="2498154"/>
            <a:ext cx="187962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Ship's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spc="-18" b="1">
                <a:solidFill>
                  <a:srgbClr val="1b2b48"/>
                </a:solidFill>
                <a:latin typeface="Arial"/>
                <a:cs typeface="Arial"/>
              </a:rPr>
              <a:t>Takeover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6799" y="2540161"/>
            <a:ext cx="311181" cy="6765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2a9d8f"/>
                </a:solidFill>
                <a:latin typeface="Arial"/>
                <a:cs typeface="Arial"/>
              </a:rPr>
              <a:t>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91299" y="2540161"/>
            <a:ext cx="469962" cy="6765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2a9d8f"/>
                </a:solidFill>
                <a:latin typeface="Arial"/>
                <a:cs typeface="Arial"/>
              </a:rPr>
              <a:t>II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14549" y="4717479"/>
            <a:ext cx="204571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Galley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Readiness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39049" y="4717479"/>
            <a:ext cx="184234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Key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to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Success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66799" y="4759486"/>
            <a:ext cx="628743" cy="6765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2a9d8f"/>
                </a:solidFill>
                <a:latin typeface="Arial"/>
                <a:cs typeface="Arial"/>
              </a:rPr>
              <a:t>III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1299" y="4759486"/>
            <a:ext cx="692367" cy="6765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2a9d8f"/>
                </a:solidFill>
                <a:latin typeface="Arial"/>
                <a:cs typeface="Arial"/>
              </a:rPr>
              <a:t>IV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2023206"/>
            <a:ext cx="4758332" cy="12206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700" spc="300" b="1">
                <a:solidFill>
                  <a:srgbClr val="2a9d8f"/>
                </a:solidFill>
                <a:latin typeface="Arial"/>
                <a:cs typeface="Arial"/>
              </a:rPr>
              <a:t>SECTION</a:t>
            </a:r>
            <a:r>
              <a:rPr dirty="0" sz="2700" spc="300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2a9d8f"/>
                </a:solidFill>
                <a:latin typeface="Arial"/>
                <a:cs typeface="Arial"/>
              </a:rPr>
              <a:t>I</a:t>
            </a:r>
          </a:p>
          <a:p>
            <a:pPr marL="0" marR="0">
              <a:lnSpc>
                <a:spcPts val="5362"/>
              </a:lnSpc>
              <a:spcBef>
                <a:spcPts val="932"/>
              </a:spcBef>
              <a:spcAft>
                <a:spcPts val="0"/>
              </a:spcAft>
            </a:pP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Ship's</a:t>
            </a: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800" spc="-44" b="1">
                <a:solidFill>
                  <a:srgbClr val="ffffff"/>
                </a:solidFill>
                <a:latin typeface="Arial"/>
                <a:cs typeface="Arial"/>
              </a:rPr>
              <a:t>Takeover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6708"/>
            <a:ext cx="6909493" cy="10727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99" b="1">
                <a:solidFill>
                  <a:srgbClr val="1b2b48"/>
                </a:solidFill>
                <a:latin typeface="Arial"/>
                <a:cs typeface="Arial"/>
              </a:rPr>
              <a:t>TAKEOVER</a:t>
            </a:r>
            <a:r>
              <a:rPr dirty="0" sz="3600" spc="-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PROCEDURES</a:t>
            </a:r>
            <a:r>
              <a:rPr dirty="0" sz="3600" spc="-208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AND</a:t>
            </a:r>
          </a:p>
          <a:p>
            <a:pPr marL="0" marR="0">
              <a:lnSpc>
                <a:spcPts val="4021"/>
              </a:lnSpc>
              <a:spcBef>
                <a:spcPts val="103"/>
              </a:spcBef>
              <a:spcAft>
                <a:spcPts val="0"/>
              </a:spcAft>
            </a:pPr>
            <a:r>
              <a:rPr dirty="0" sz="3600" spc="-110" b="1">
                <a:solidFill>
                  <a:srgbClr val="1b2b48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9699" y="2307654"/>
            <a:ext cx="2477132" cy="3284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Inventory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Verification</a:t>
            </a:r>
          </a:p>
          <a:p>
            <a:pPr marL="0" marR="0">
              <a:lnSpc>
                <a:spcPts val="2010"/>
              </a:lnSpc>
              <a:spcBef>
                <a:spcPts val="9764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Condition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Reporting</a:t>
            </a:r>
          </a:p>
          <a:p>
            <a:pPr marL="0" marR="0">
              <a:lnSpc>
                <a:spcPts val="2010"/>
              </a:lnSpc>
              <a:spcBef>
                <a:spcPts val="9764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Safety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Equipment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3137"/>
            <a:ext cx="7628184" cy="68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75">
                <a:solidFill>
                  <a:srgbClr val="000000"/>
                </a:solidFill>
                <a:latin typeface="Arial Black"/>
                <a:cs typeface="Arial Black"/>
              </a:rPr>
              <a:t>SPECIFIC</a:t>
            </a:r>
            <a:r>
              <a:rPr dirty="0" sz="3600" spc="-75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87">
                <a:solidFill>
                  <a:srgbClr val="000000"/>
                </a:solidFill>
                <a:latin typeface="Arial Black"/>
                <a:cs typeface="Arial Black"/>
              </a:rPr>
              <a:t>ROLES:</a:t>
            </a:r>
            <a:r>
              <a:rPr dirty="0" sz="3600" spc="-62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75">
                <a:solidFill>
                  <a:srgbClr val="000000"/>
                </a:solidFill>
                <a:latin typeface="Arial Black"/>
                <a:cs typeface="Arial Black"/>
              </a:rPr>
              <a:t>CHIEF</a:t>
            </a:r>
            <a:r>
              <a:rPr dirty="0" sz="3600" spc="-75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75">
                <a:solidFill>
                  <a:srgbClr val="000000"/>
                </a:solidFill>
                <a:latin typeface="Arial Black"/>
                <a:cs typeface="Arial Black"/>
              </a:rPr>
              <a:t>COOK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2099" y="1831404"/>
            <a:ext cx="297228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Leadership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Food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Safety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2099" y="3412554"/>
            <a:ext cx="3048074" cy="18746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Menu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Planning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Budget</a:t>
            </a:r>
          </a:p>
          <a:p>
            <a:pPr marL="0" marR="0">
              <a:lnSpc>
                <a:spcPts val="2010"/>
              </a:lnSpc>
              <a:spcBef>
                <a:spcPts val="10489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Storage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Sanitation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Control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3137"/>
            <a:ext cx="7151413" cy="68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SPECIFIC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50">
                <a:solidFill>
                  <a:srgbClr val="000000"/>
                </a:solidFill>
                <a:latin typeface="Arial Black"/>
                <a:cs typeface="Arial Black"/>
              </a:rPr>
              <a:t>ROLES:</a:t>
            </a:r>
            <a:r>
              <a:rPr dirty="0" sz="3600" spc="-25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MESSMAN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5374" y="2098104"/>
            <a:ext cx="125733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Sanitation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5374" y="3774504"/>
            <a:ext cx="153683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Provisioning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5374" y="5450904"/>
            <a:ext cx="227800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7" b="1">
                <a:solidFill>
                  <a:srgbClr val="1b2b48"/>
                </a:solidFill>
                <a:latin typeface="Arial"/>
                <a:cs typeface="Arial"/>
              </a:rPr>
              <a:t>Waste</a:t>
            </a:r>
            <a:r>
              <a:rPr dirty="0" sz="1800" spc="17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Management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0475" y="1651731"/>
            <a:ext cx="2305235" cy="4211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700" spc="300" b="1">
                <a:solidFill>
                  <a:srgbClr val="2a9d8f"/>
                </a:solidFill>
                <a:latin typeface="Arial"/>
                <a:cs typeface="Arial"/>
              </a:rPr>
              <a:t>SECTION</a:t>
            </a:r>
            <a:r>
              <a:rPr dirty="0" sz="2700" spc="300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2700" spc="300" b="1">
                <a:solidFill>
                  <a:srgbClr val="2a9d8f"/>
                </a:solidFill>
                <a:latin typeface="Arial"/>
                <a:cs typeface="Arial"/>
              </a:rPr>
              <a:t>II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2364" y="2258020"/>
            <a:ext cx="7839669" cy="719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62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RightShip</a:t>
            </a: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Inspection</a:t>
            </a: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ffffff"/>
                </a:solidFill>
                <a:latin typeface="Arial"/>
                <a:cs typeface="Arial"/>
              </a:rPr>
              <a:t>(RSI)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386208"/>
            <a:ext cx="750867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RISQ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3.2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37" b="1">
                <a:solidFill>
                  <a:srgbClr val="1b2b48"/>
                </a:solidFill>
                <a:latin typeface="Arial"/>
                <a:cs typeface="Arial"/>
              </a:rPr>
              <a:t>UPDATE:</a:t>
            </a:r>
            <a:r>
              <a:rPr dirty="0" sz="3600" spc="37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44" b="1">
                <a:solidFill>
                  <a:srgbClr val="1b2b48"/>
                </a:solidFill>
                <a:latin typeface="Arial"/>
                <a:cs typeface="Arial"/>
              </a:rPr>
              <a:t>WHAT'S</a:t>
            </a:r>
            <a:r>
              <a:rPr dirty="0" sz="3600" spc="44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NEW?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999" y="1303920"/>
            <a:ext cx="1517990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Latest</a:t>
            </a: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Updates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3200" y="1303920"/>
            <a:ext cx="1355861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Crew</a:t>
            </a: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Welfare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64400" y="1303920"/>
            <a:ext cx="1538827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a9d8f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399" y="2614761"/>
            <a:ext cx="138908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Version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06476" y="2614761"/>
            <a:ext cx="1465138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RISQ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3.2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Changes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6708"/>
            <a:ext cx="805487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RSI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107" b="1">
                <a:solidFill>
                  <a:srgbClr val="1b2b48"/>
                </a:solidFill>
                <a:latin typeface="Arial"/>
                <a:cs typeface="Arial"/>
              </a:rPr>
              <a:t>CHECKLIST:</a:t>
            </a:r>
            <a:r>
              <a:rPr dirty="0" sz="3600" spc="-43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COMMON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1b2b48"/>
                </a:solidFill>
                <a:latin typeface="Arial"/>
                <a:cs typeface="Arial"/>
              </a:rPr>
              <a:t>FINDINGS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8774" y="1877224"/>
            <a:ext cx="3867001" cy="272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Personal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Protective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Equipment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(PPE)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8774" y="3544099"/>
            <a:ext cx="3284701" cy="19295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spc="-11" b="1">
                <a:solidFill>
                  <a:srgbClr val="1b2b48"/>
                </a:solidFill>
                <a:latin typeface="Arial"/>
                <a:cs typeface="Arial"/>
              </a:rPr>
              <a:t>Temperature</a:t>
            </a:r>
            <a:r>
              <a:rPr dirty="0" sz="1650" spc="11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Logging</a:t>
            </a:r>
            <a:r>
              <a:rPr dirty="0" sz="1650" spc="-61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Accuracy</a:t>
            </a:r>
          </a:p>
          <a:p>
            <a:pPr marL="0" marR="0">
              <a:lnSpc>
                <a:spcPts val="1843"/>
              </a:lnSpc>
              <a:spcBef>
                <a:spcPts val="11256"/>
              </a:spcBef>
              <a:spcAft>
                <a:spcPts val="0"/>
              </a:spcAft>
            </a:pP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Screens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Grease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b2b48"/>
                </a:solidFill>
                <a:latin typeface="Arial"/>
                <a:cs typeface="Arial"/>
              </a:rPr>
              <a:t>Filters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07009" y="1489509"/>
            <a:ext cx="7330379" cy="16610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64866" marR="0">
              <a:lnSpc>
                <a:spcPts val="3807"/>
              </a:lnSpc>
              <a:spcBef>
                <a:spcPts val="0"/>
              </a:spcBef>
              <a:spcAft>
                <a:spcPts val="0"/>
              </a:spcAft>
            </a:pPr>
            <a:r>
              <a:rPr dirty="0" sz="2700" spc="300">
                <a:solidFill>
                  <a:srgbClr val="000000"/>
                </a:solidFill>
                <a:latin typeface="Arial Black"/>
                <a:cs typeface="Arial Black"/>
              </a:rPr>
              <a:t>SECTION</a:t>
            </a:r>
            <a:r>
              <a:rPr dirty="0" sz="2700" spc="30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2700" spc="300">
                <a:solidFill>
                  <a:srgbClr val="000000"/>
                </a:solidFill>
                <a:latin typeface="Arial Black"/>
                <a:cs typeface="Arial Black"/>
              </a:rPr>
              <a:t>III</a:t>
            </a:r>
          </a:p>
          <a:p>
            <a:pPr marL="0" marR="0">
              <a:lnSpc>
                <a:spcPts val="7950"/>
              </a:lnSpc>
              <a:spcBef>
                <a:spcPts val="510"/>
              </a:spcBef>
              <a:spcAft>
                <a:spcPts val="0"/>
              </a:spcAft>
            </a:pPr>
            <a:r>
              <a:rPr dirty="0" sz="6000">
                <a:solidFill>
                  <a:srgbClr val="000000"/>
                </a:solidFill>
                <a:latin typeface="Arial Black"/>
                <a:cs typeface="Arial Black"/>
              </a:rPr>
              <a:t>Galley</a:t>
            </a:r>
            <a:r>
              <a:rPr dirty="0" sz="600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6000" spc="-18">
                <a:solidFill>
                  <a:srgbClr val="000000"/>
                </a:solidFill>
                <a:latin typeface="Arial Black"/>
                <a:cs typeface="Arial Black"/>
              </a:rPr>
              <a:t>Readiness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3137"/>
            <a:ext cx="8577112" cy="68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THE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12-INCH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57">
                <a:solidFill>
                  <a:srgbClr val="000000"/>
                </a:solidFill>
                <a:latin typeface="Arial Black"/>
                <a:cs typeface="Arial Black"/>
              </a:rPr>
              <a:t>RULE</a:t>
            </a:r>
            <a:r>
              <a:rPr dirty="0" sz="3600" spc="-17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FOR</a:t>
            </a:r>
            <a:r>
              <a:rPr dirty="0" sz="3600" spc="-37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68">
                <a:solidFill>
                  <a:srgbClr val="000000"/>
                </a:solidFill>
                <a:latin typeface="Arial Black"/>
                <a:cs typeface="Arial Black"/>
              </a:rPr>
              <a:t>STORAGE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6399" y="2170695"/>
            <a:ext cx="1842622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4" b="1">
                <a:solidFill>
                  <a:srgbClr val="1b2b48"/>
                </a:solidFill>
                <a:latin typeface="Arial"/>
                <a:cs typeface="Arial"/>
              </a:rPr>
              <a:t>Technical</a:t>
            </a:r>
            <a:r>
              <a:rPr dirty="0" sz="1500" spc="14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Mandate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76399" y="3904245"/>
            <a:ext cx="2491512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Ventilation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Pest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Control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6399" y="5923545"/>
            <a:ext cx="2167439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Cleaning</a:t>
            </a:r>
            <a:r>
              <a:rPr dirty="0" sz="1500" spc="-56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b2b48"/>
                </a:solidFill>
                <a:latin typeface="Arial"/>
                <a:cs typeface="Arial"/>
              </a:rPr>
              <a:t>Accessibility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3137"/>
            <a:ext cx="9845351" cy="68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30">
                <a:solidFill>
                  <a:srgbClr val="000000"/>
                </a:solidFill>
                <a:latin typeface="Arial Black"/>
                <a:cs typeface="Arial Black"/>
              </a:rPr>
              <a:t>HEALTH</a:t>
            </a:r>
            <a:r>
              <a:rPr dirty="0" sz="3600" spc="3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>
                <a:solidFill>
                  <a:srgbClr val="000000"/>
                </a:solidFill>
                <a:latin typeface="Arial Black"/>
                <a:cs typeface="Arial Black"/>
              </a:rPr>
              <a:t>AND</a:t>
            </a:r>
            <a:r>
              <a:rPr dirty="0" sz="360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-49">
                <a:solidFill>
                  <a:srgbClr val="000000"/>
                </a:solidFill>
                <a:latin typeface="Arial Black"/>
                <a:cs typeface="Arial Black"/>
              </a:rPr>
              <a:t>SANITATION</a:t>
            </a:r>
            <a:r>
              <a:rPr dirty="0" sz="3600" spc="49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>
                <a:solidFill>
                  <a:srgbClr val="000000"/>
                </a:solidFill>
                <a:latin typeface="Arial Black"/>
                <a:cs typeface="Arial Black"/>
              </a:rPr>
              <a:t>CHECKLIST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42814" y="2300771"/>
            <a:ext cx="8239700" cy="11663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83"/>
              </a:lnSpc>
              <a:spcBef>
                <a:spcPts val="0"/>
              </a:spcBef>
              <a:spcAft>
                <a:spcPts val="0"/>
              </a:spcAft>
            </a:pPr>
            <a:r>
              <a:rPr dirty="0" sz="6300" spc="150">
                <a:solidFill>
                  <a:srgbClr val="000000"/>
                </a:solidFill>
                <a:latin typeface="Arial Black"/>
                <a:cs typeface="Arial Black"/>
              </a:rPr>
              <a:t>KEY</a:t>
            </a:r>
            <a:r>
              <a:rPr dirty="0" sz="63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6300" spc="-64">
                <a:solidFill>
                  <a:srgbClr val="000000"/>
                </a:solidFill>
                <a:latin typeface="Arial Black"/>
                <a:cs typeface="Arial Black"/>
              </a:rPr>
              <a:t>TO</a:t>
            </a:r>
            <a:r>
              <a:rPr dirty="0" sz="6300" spc="365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6300" spc="150">
                <a:solidFill>
                  <a:srgbClr val="000000"/>
                </a:solidFill>
                <a:latin typeface="Arial Black"/>
                <a:cs typeface="Arial Black"/>
              </a:rPr>
              <a:t>SUCCESS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6708"/>
            <a:ext cx="6885830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Essential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33" b="1">
                <a:solidFill>
                  <a:srgbClr val="1b2b48"/>
                </a:solidFill>
                <a:latin typeface="Arial"/>
                <a:cs typeface="Arial"/>
              </a:rPr>
              <a:t>Traits</a:t>
            </a:r>
            <a:r>
              <a:rPr dirty="0" sz="3600" spc="33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for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Galley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Staff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63010" y="1778365"/>
            <a:ext cx="3000588" cy="2296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8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75" b="1">
                <a:solidFill>
                  <a:srgbClr val="2a9d8f"/>
                </a:solidFill>
                <a:latin typeface="Arial"/>
                <a:cs typeface="Arial"/>
              </a:rPr>
              <a:t>TEAM</a:t>
            </a:r>
            <a:r>
              <a:rPr dirty="0" sz="1350" spc="75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a9d8f"/>
                </a:solidFill>
                <a:latin typeface="Arial"/>
                <a:cs typeface="Arial"/>
              </a:rPr>
              <a:t>SUCCESS</a:t>
            </a:r>
            <a:r>
              <a:rPr dirty="0" sz="1350" spc="75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a9d8f"/>
                </a:solidFill>
                <a:latin typeface="Arial"/>
                <a:cs typeface="Arial"/>
              </a:rPr>
              <a:t>COMPONENTS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8224" y="1821879"/>
            <a:ext cx="224339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63" b="1">
                <a:solidFill>
                  <a:srgbClr val="2a9d8f"/>
                </a:solidFill>
                <a:latin typeface="Arial"/>
                <a:cs typeface="Arial"/>
              </a:rPr>
              <a:t>COMMUNICATION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224" y="3812604"/>
            <a:ext cx="1987711" cy="22842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75" b="1">
                <a:solidFill>
                  <a:srgbClr val="2a9d8f"/>
                </a:solidFill>
                <a:latin typeface="Arial"/>
                <a:cs typeface="Arial"/>
              </a:rPr>
              <a:t>MAINTENANCE</a:t>
            </a:r>
          </a:p>
          <a:p>
            <a:pPr marL="0" marR="0">
              <a:lnSpc>
                <a:spcPts val="2010"/>
              </a:lnSpc>
              <a:spcBef>
                <a:spcPts val="13664"/>
              </a:spcBef>
              <a:spcAft>
                <a:spcPts val="0"/>
              </a:spcAft>
            </a:pPr>
            <a:r>
              <a:rPr dirty="0" sz="1800" spc="75" b="1">
                <a:solidFill>
                  <a:srgbClr val="2a9d8f"/>
                </a:solidFill>
                <a:latin typeface="Arial"/>
                <a:cs typeface="Arial"/>
              </a:rPr>
              <a:t>DEVELOPMENT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6708"/>
            <a:ext cx="6952356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-21" b="1">
                <a:solidFill>
                  <a:srgbClr val="1b2b48"/>
                </a:solidFill>
                <a:latin typeface="Arial"/>
                <a:cs typeface="Arial"/>
              </a:rPr>
              <a:t>SUMMARY</a:t>
            </a:r>
            <a:r>
              <a:rPr dirty="0" sz="3600" spc="-43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&amp;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b2b48"/>
                </a:solidFill>
                <a:latin typeface="Arial"/>
                <a:cs typeface="Arial"/>
              </a:rPr>
              <a:t>KEY</a:t>
            </a:r>
            <a:r>
              <a:rPr dirty="0" sz="3600" spc="-64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3600" spc="-111" b="1">
                <a:solidFill>
                  <a:srgbClr val="1b2b48"/>
                </a:solidFill>
                <a:latin typeface="Arial"/>
                <a:cs typeface="Arial"/>
              </a:rPr>
              <a:t>TAKEAWAYS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0124" y="3955479"/>
            <a:ext cx="179981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Initial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spc="-18" b="1">
                <a:solidFill>
                  <a:srgbClr val="1b2b48"/>
                </a:solidFill>
                <a:latin typeface="Arial"/>
                <a:cs typeface="Arial"/>
              </a:rPr>
              <a:t>Takeover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02525" y="3955479"/>
            <a:ext cx="188018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Daily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Standards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7525" y="3993579"/>
            <a:ext cx="18926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RSI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b2b48"/>
                </a:solidFill>
                <a:latin typeface="Arial"/>
                <a:cs typeface="Arial"/>
              </a:rPr>
              <a:t>Compliance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75216" y="6670104"/>
            <a:ext cx="150714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2a9d8f"/>
                </a:solidFill>
                <a:latin typeface="Arial"/>
                <a:cs typeface="Arial"/>
              </a:rPr>
              <a:t>THANK</a:t>
            </a:r>
            <a:r>
              <a:rPr dirty="0" sz="1800" spc="-33" b="1">
                <a:solidFill>
                  <a:srgbClr val="2a9d8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a9d8f"/>
                </a:solidFill>
                <a:latin typeface="Arial"/>
                <a:cs typeface="Arial"/>
              </a:rPr>
              <a:t>YOU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4814" y="3040112"/>
            <a:ext cx="3375495" cy="68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THANK</a:t>
            </a:r>
            <a:r>
              <a:rPr dirty="0" sz="3600" spc="15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3600" spc="28">
                <a:solidFill>
                  <a:srgbClr val="000000"/>
                </a:solidFill>
                <a:latin typeface="Arial Black"/>
                <a:cs typeface="Arial Blac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2026-05-23T06:39:42+00:00</dcterms:modified>
</cp:coreProperties>
</file>